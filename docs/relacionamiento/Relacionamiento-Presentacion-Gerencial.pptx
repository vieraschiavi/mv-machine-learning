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3fd64ce-7eab-062c-ee8e-576a70fe6b37}">
          <p14:sldIdLst>
            <p14:sldId id="256"/>
            <p14:sldId id="257"/>
          </p14:sldIdLst>
        </p14:section>
        <p14:section name="El enfoque" id="{34d0de4c-bc42-47de-134b-3b880a93122f}">
          <p14:sldIdLst>
            <p14:sldId id="258"/>
            <p14:sldId id="259"/>
          </p14:sldIdLst>
        </p14:section>
        <p14:section name="Relacionamiento" id="{ad08160b-3733-6ff4-dba7-657bd27a9f0d}">
          <p14:sldIdLst>
            <p14:sldId id="260"/>
            <p14:sldId id="261"/>
            <p14:sldId id="262"/>
            <p14:sldId id="263"/>
            <p14:sldId id="264"/>
          </p14:sldIdLst>
        </p14:section>
        <p14:section name="Cómo comunicamos" id="{e6db3cd6-11a8-aae0-5a86-313f869da7e0}">
          <p14:sldIdLst>
            <p14:sldId id="265"/>
            <p14:sldId id="266"/>
          </p14:sldIdLst>
        </p14:section>
        <p14:section name="Próximos pasos" id="{3ac2c263-5a05-6a02-78dd-5d0b7c669439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B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B44"/>
                </a:solidFill>
                <a:latin typeface="+mn-lt"/>
              </a:rPr>
              <a:t>Personas por etapa (datos sintéticos)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Personas</c:v>
                </c:pt>
              </c:strCache>
            </c:strRef>
          </c:tx>
          <c:spPr>
            <a:solidFill>
              <a:srgbClr val="1C7C7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Captados</c:v>
                  </c:pt>
                  <c:pt idx="1">
                    <c:v>Contactables</c:v>
                  </c:pt>
                  <c:pt idx="2">
                    <c:v>Con permiso comercial</c:v>
                  </c:pt>
                  <c:pt idx="3">
                    <c:v>Con permiso de salud</c:v>
                  </c:pt>
                  <c:pt idx="4">
                    <c:v>Con personalización</c:v>
                  </c:pt>
                  <c:pt idx="5">
                    <c:v>Alcanzados</c:v>
                  </c:pt>
                  <c:pt idx="6">
                    <c:v>Activos</c:v>
                  </c:pt>
                  <c:pt idx="7">
                    <c:v>Inscriptos o canjes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1500</c:v>
                </c:pt>
                <c:pt idx="1">
                  <c:v>1343</c:v>
                </c:pt>
                <c:pt idx="2">
                  <c:v>724</c:v>
                </c:pt>
                <c:pt idx="3">
                  <c:v>930</c:v>
                </c:pt>
                <c:pt idx="4">
                  <c:v>803</c:v>
                </c:pt>
                <c:pt idx="5">
                  <c:v>1187</c:v>
                </c:pt>
                <c:pt idx="6">
                  <c:v>782</c:v>
                </c:pt>
                <c:pt idx="7">
                  <c:v>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Objetivo: aprobar el piloto del programa de relacionamiento. Mensaje: podemos recomendar como un marketplace sin exponernos regulatoria ni reputacionalmente.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números resumen el diseño: consentimiento por finalidad, reglas primero, cero promoción de receta al público y el programa probado.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tres diferencias con MercadoLibre: de dónde salen los datos, qué se recomienda (receta vs. venta libre) y el dato de salud como dato sensible.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separación entre persona y territorio es lo que hace legal el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ve el equipo en la pestaña nueva y cómo se conecta con lo que ya tenemos.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seis cosas que hace la pestaña. Remarcar: las reglas van antes de la recomendación; un producto bajo receta nunca se promociona a un paciente.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cruce con Analysis Services o el DW es por claves de país, producto y área normalizadas: no hay que rehacer el modelo corporativo.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de la base sintética de ejemplo (1.500 contactos inventados). Con datos reales, el tablero de Power BI muestra lo mismo por país.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Ejemplo: São Paulo y Santiago concentran la mayor brecha estimada en cardiometabólica.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oro: lo bajo receta sólo a profesionales; al público, concientización sin marca, programas para quien declaró la receta y venta libre con permiso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reglas por país son conservadoras por defecto y quedan «a validar por legal»: el programa aplica reglas, no da asesoramiento jurídico.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1 (legal) destraba todo lo demás.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los tres pedidos concretos.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MV AutoML Studio · Relacionamiento con consentimiento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Relacionamiento con consentimiento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118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Una base propia, un recomendador al estilo marketplace y la ley de nuestro lado</a:t>
            </a:r>
            <a:endParaRPr lang="en-US" sz="2000" dirty="0"/>
          </a:p>
        </p:txBody>
      </p:sp>
      <p:sp>
        <p:nvSpPr>
          <p:cNvPr id="4" name="Pie de portada"/>
          <p:cNvSpPr txBox="1"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MV AutoML Studio · Presentación gerencial · Octubre 2026</a:t>
            </a:r>
            <a:endParaRPr lang="en-US" sz="1400" dirty="0"/>
          </a:p>
        </p:txBody>
      </p:sp>
      <p:sp>
        <p:nvSpPr>
          <p:cNvPr id="5" name="Candado círculo"/>
          <p:cNvSpPr/>
          <p:nvPr/>
        </p:nvSpPr>
        <p:spPr>
          <a:xfrm>
            <a:off x="548640" y="7772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andado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1048817"/>
            <a:ext cx="462686" cy="4626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mensaje en una lámina</a:t>
            </a:r>
            <a:endParaRPr lang="en-US" sz="3200" dirty="0"/>
          </a:p>
        </p:txBody>
      </p:sp>
      <p:sp>
        <p:nvSpPr>
          <p:cNvPr id="3" name="Mensaje principal"/>
          <p:cNvSpPr txBox="1"/>
          <p:nvPr/>
        </p:nvSpPr>
        <p:spPr>
          <a:xfrm>
            <a:off x="548640" y="14630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Recomendamos como un marketplace, </a:t>
            </a:r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con gente que eligió estar en nuestra base y con reglas que van antes que el algoritmo.</a:t>
            </a:r>
            <a:endParaRPr lang="en-US" sz="2400" dirty="0"/>
          </a:p>
        </p:txBody>
      </p:sp>
      <p:sp>
        <p:nvSpPr>
          <p:cNvPr id="4" name="Bajada"/>
          <p:cNvSpPr txBox="1"/>
          <p:nvPr/>
        </p:nvSpPr>
        <p:spPr>
          <a:xfrm>
            <a:off x="548640" y="37490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Así medimos todo y crecemos sin que nadie pueda decir que rastreamos a los pacientes.</a:t>
            </a:r>
            <a:endParaRPr lang="en-US" sz="1600" dirty="0"/>
          </a:p>
        </p:txBody>
      </p:sp>
      <p:sp>
        <p:nvSpPr>
          <p:cNvPr id="5" name="Dato 1"/>
          <p:cNvSpPr/>
          <p:nvPr/>
        </p:nvSpPr>
        <p:spPr>
          <a:xfrm>
            <a:off x="6309360" y="146304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ato 1 número"/>
          <p:cNvSpPr txBox="1"/>
          <p:nvPr/>
        </p:nvSpPr>
        <p:spPr>
          <a:xfrm>
            <a:off x="6537960" y="1645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7" name="Dato 1 texto"/>
          <p:cNvSpPr txBox="1"/>
          <p:nvPr/>
        </p:nvSpPr>
        <p:spPr>
          <a:xfrm>
            <a:off x="6537960" y="2514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consentimientos por separado: contacto, comercial, salud y personalización</a:t>
            </a:r>
            <a:endParaRPr lang="en-US" sz="1400" dirty="0"/>
          </a:p>
        </p:txBody>
      </p:sp>
      <p:sp>
        <p:nvSpPr>
          <p:cNvPr id="8" name="Dato 2"/>
          <p:cNvSpPr/>
          <p:nvPr/>
        </p:nvSpPr>
        <p:spPr>
          <a:xfrm>
            <a:off x="9052560" y="146304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ato 2 número"/>
          <p:cNvSpPr txBox="1"/>
          <p:nvPr/>
        </p:nvSpPr>
        <p:spPr>
          <a:xfrm>
            <a:off x="9281160" y="16459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10" name="Dato 2 texto"/>
          <p:cNvSpPr txBox="1"/>
          <p:nvPr/>
        </p:nvSpPr>
        <p:spPr>
          <a:xfrm>
            <a:off x="9281160" y="251460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reglas que se chequean antes de recomendar nada</a:t>
            </a:r>
            <a:endParaRPr lang="en-US" sz="1400" dirty="0"/>
          </a:p>
        </p:txBody>
      </p:sp>
      <p:sp>
        <p:nvSpPr>
          <p:cNvPr id="11" name="Dato 3"/>
          <p:cNvSpPr/>
          <p:nvPr/>
        </p:nvSpPr>
        <p:spPr>
          <a:xfrm>
            <a:off x="6309360" y="379476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ato 3 número"/>
          <p:cNvSpPr txBox="1"/>
          <p:nvPr/>
        </p:nvSpPr>
        <p:spPr>
          <a:xfrm>
            <a:off x="6537960" y="3977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13" name="Dato 3 texto"/>
          <p:cNvSpPr txBox="1"/>
          <p:nvPr/>
        </p:nvSpPr>
        <p:spPr>
          <a:xfrm>
            <a:off x="6537960" y="4846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productos bajo receta promocionados al público</a:t>
            </a:r>
            <a:endParaRPr lang="en-US" sz="1400" dirty="0"/>
          </a:p>
        </p:txBody>
      </p:sp>
      <p:sp>
        <p:nvSpPr>
          <p:cNvPr id="14" name="Dato 4"/>
          <p:cNvSpPr/>
          <p:nvPr/>
        </p:nvSpPr>
        <p:spPr>
          <a:xfrm>
            <a:off x="9052560" y="3794760"/>
            <a:ext cx="2514600" cy="205740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ato 4 número"/>
          <p:cNvSpPr txBox="1"/>
          <p:nvPr/>
        </p:nvSpPr>
        <p:spPr>
          <a:xfrm>
            <a:off x="9281160" y="39776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5400" dirty="0"/>
          </a:p>
        </p:txBody>
      </p:sp>
      <p:sp>
        <p:nvSpPr>
          <p:cNvPr id="16" name="Dato 4 texto"/>
          <p:cNvSpPr txBox="1"/>
          <p:nvPr/>
        </p:nvSpPr>
        <p:spPr>
          <a:xfrm>
            <a:off x="9281160" y="484632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pruebas automáticas sobre el programa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Mismo algoritmo que un marketplace, otra fuente de datos</a:t>
            </a:r>
            <a:endParaRPr lang="en-US" sz="3200" dirty="0"/>
          </a:p>
        </p:txBody>
      </p:sp>
      <p:sp>
        <p:nvSpPr>
          <p:cNvPr id="3" name="Columna 1"/>
          <p:cNvSpPr/>
          <p:nvPr/>
        </p:nvSpPr>
        <p:spPr>
          <a:xfrm>
            <a:off x="548640" y="1417320"/>
            <a:ext cx="53949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olumna 1 círculo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Columna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818742"/>
            <a:ext cx="294437" cy="294437"/>
          </a:xfrm>
          <a:prstGeom prst="rect">
            <a:avLst/>
          </a:prstGeom>
        </p:spPr>
      </p:pic>
      <p:sp>
        <p:nvSpPr>
          <p:cNvPr id="6" name="Columna 1 título"/>
          <p:cNvSpPr txBox="1"/>
          <p:nvPr/>
        </p:nvSpPr>
        <p:spPr>
          <a:xfrm>
            <a:off x="164592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 que tomamos del marketplace</a:t>
            </a:r>
            <a:endParaRPr lang="en-US" sz="2000" dirty="0"/>
          </a:p>
        </p:txBody>
      </p:sp>
      <p:sp>
        <p:nvSpPr>
          <p:cNvPr id="7" name="Columna 1 puntos"/>
          <p:cNvSpPr txBox="1"/>
          <p:nvPr/>
        </p:nvSpPr>
        <p:spPr>
          <a:xfrm>
            <a:off x="868680" y="25603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«A quienes les interesó X también les interesó esto»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El historial de cada persona para elegir lo siguiente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Medir todo: apertura, clics, conversión, bajas</a:t>
            </a:r>
            <a:endParaRPr lang="en-US" sz="1800" dirty="0"/>
          </a:p>
        </p:txBody>
      </p:sp>
      <p:sp>
        <p:nvSpPr>
          <p:cNvPr id="8" name="Columna 2"/>
          <p:cNvSpPr/>
          <p:nvPr/>
        </p:nvSpPr>
        <p:spPr>
          <a:xfrm>
            <a:off x="6217920" y="1417320"/>
            <a:ext cx="53949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Columna 2 círculo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Columna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062" y="1818742"/>
            <a:ext cx="294437" cy="294437"/>
          </a:xfrm>
          <a:prstGeom prst="rect">
            <a:avLst/>
          </a:prstGeom>
        </p:spPr>
      </p:pic>
      <p:sp>
        <p:nvSpPr>
          <p:cNvPr id="11" name="Columna 2 título"/>
          <p:cNvSpPr txBox="1"/>
          <p:nvPr/>
        </p:nvSpPr>
        <p:spPr>
          <a:xfrm>
            <a:off x="7315200" y="16459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Lo que no copiamos</a:t>
            </a:r>
            <a:endParaRPr lang="en-US" sz="2000" dirty="0"/>
          </a:p>
        </p:txBody>
      </p:sp>
      <p:sp>
        <p:nvSpPr>
          <p:cNvPr id="12" name="Columna 2 puntos"/>
          <p:cNvSpPr txBox="1"/>
          <p:nvPr/>
        </p:nvSpPr>
        <p:spPr>
          <a:xfrm>
            <a:off x="6537960" y="256032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Leer redes ajenas y cruzarlas con mail, ciudad o nivel económico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Promocionar productos bajo receta al público</a:t>
            </a:r>
            <a:endParaRPr lang="en-US" sz="18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Inferir enfermedades sin consentimiento expreso</a:t>
            </a:r>
            <a:endParaRPr lang="en-US" sz="1800" dirty="0"/>
          </a:p>
        </p:txBody>
      </p:sp>
      <p:sp>
        <p:nvSpPr>
          <p:cNvPr id="13" name="Riesgo círculo"/>
          <p:cNvSpPr/>
          <p:nvPr/>
        </p:nvSpPr>
        <p:spPr>
          <a:xfrm>
            <a:off x="548640" y="525780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4" name="Riesgo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5442966"/>
            <a:ext cx="315468" cy="315468"/>
          </a:xfrm>
          <a:prstGeom prst="rect">
            <a:avLst/>
          </a:prstGeom>
        </p:spPr>
      </p:pic>
      <p:sp>
        <p:nvSpPr>
          <p:cNvPr id="15" name="Riesgo evitado"/>
          <p:cNvSpPr txBox="1"/>
          <p:nvPr/>
        </p:nvSpPr>
        <p:spPr>
          <a:xfrm>
            <a:off x="1463040" y="5212080"/>
            <a:ext cx="101800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 riesgo que evitamos: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multas, cuentas suspendidas en las redes y el titular «laboratorio rastrea enfermos en las redes».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 dónde salen los datos: dos niveles que no se mezclan</a:t>
            </a:r>
            <a:endParaRPr lang="en-US" sz="3200" dirty="0"/>
          </a:p>
        </p:txBody>
      </p:sp>
      <p:sp>
        <p:nvSpPr>
          <p:cNvPr id="3" name="Nivel Persona"/>
          <p:cNvSpPr/>
          <p:nvPr/>
        </p:nvSpPr>
        <p:spPr>
          <a:xfrm>
            <a:off x="548640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ivel Persona círculo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Nivel Persona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43430"/>
            <a:ext cx="336499" cy="336499"/>
          </a:xfrm>
          <a:prstGeom prst="rect">
            <a:avLst/>
          </a:prstGeom>
        </p:spPr>
      </p:pic>
      <p:sp>
        <p:nvSpPr>
          <p:cNvPr id="6" name="Nivel Persona título"/>
          <p:cNvSpPr txBox="1"/>
          <p:nvPr/>
        </p:nvSpPr>
        <p:spPr>
          <a:xfrm>
            <a:off x="1691640" y="1645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Persona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Base propia</a:t>
            </a:r>
            <a:endParaRPr lang="en-US" sz="2000" dirty="0"/>
          </a:p>
        </p:txBody>
      </p:sp>
      <p:sp>
        <p:nvSpPr>
          <p:cNvPr id="7" name="Nivel Persona fuentes"/>
          <p:cNvSpPr txBox="1"/>
          <p:nvPr/>
        </p:nvSpPr>
        <p:spPr>
          <a:xfrm>
            <a:off x="822960" y="2606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Formularios, programa de pacientes, call center, e-commerce de venta libre y registro de médicos.</a:t>
            </a:r>
            <a:endParaRPr lang="en-US" sz="1500" dirty="0"/>
          </a:p>
        </p:txBody>
      </p:sp>
      <p:sp>
        <p:nvSpPr>
          <p:cNvPr id="8" name="Nivel Persona uso"/>
          <p:cNvSpPr txBox="1"/>
          <p:nvPr/>
        </p:nvSpPr>
        <p:spPr>
          <a:xfrm>
            <a:off x="822960" y="40690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 consentimiento por finalidad y sólo lo que la persona declaró.</a:t>
            </a:r>
            <a:endParaRPr lang="en-US" sz="1500" dirty="0"/>
          </a:p>
        </p:txBody>
      </p:sp>
      <p:sp>
        <p:nvSpPr>
          <p:cNvPr id="9" name="Nivel Territorio"/>
          <p:cNvSpPr/>
          <p:nvPr/>
        </p:nvSpPr>
        <p:spPr>
          <a:xfrm>
            <a:off x="4325112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ivel Territorio círculo"/>
          <p:cNvSpPr/>
          <p:nvPr/>
        </p:nvSpPr>
        <p:spPr>
          <a:xfrm>
            <a:off x="4599432" y="16459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Nivel Territorio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942" y="1843430"/>
            <a:ext cx="336499" cy="336499"/>
          </a:xfrm>
          <a:prstGeom prst="rect">
            <a:avLst/>
          </a:prstGeom>
        </p:spPr>
      </p:pic>
      <p:sp>
        <p:nvSpPr>
          <p:cNvPr id="12" name="Nivel Territorio título"/>
          <p:cNvSpPr txBox="1"/>
          <p:nvPr/>
        </p:nvSpPr>
        <p:spPr>
          <a:xfrm>
            <a:off x="5468112" y="1645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Territorio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Público y agregado</a:t>
            </a:r>
            <a:endParaRPr lang="en-US" sz="2000" dirty="0"/>
          </a:p>
        </p:txBody>
      </p:sp>
      <p:sp>
        <p:nvSpPr>
          <p:cNvPr id="13" name="Nivel Territorio fuentes"/>
          <p:cNvSpPr txBox="1"/>
          <p:nvPr/>
        </p:nvSpPr>
        <p:spPr>
          <a:xfrm>
            <a:off x="4599432" y="2606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Censos por ciudad y barrio (edad, sexo, NSE), encuestas de salud, IQVIA y Google Trends.</a:t>
            </a:r>
            <a:endParaRPr lang="en-US" sz="1500" dirty="0"/>
          </a:p>
        </p:txBody>
      </p:sp>
      <p:sp>
        <p:nvSpPr>
          <p:cNvPr id="14" name="Nivel Territorio uso"/>
          <p:cNvSpPr txBox="1"/>
          <p:nvPr/>
        </p:nvSpPr>
        <p:spPr>
          <a:xfrm>
            <a:off x="4599432" y="40690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Nunca identifica a nadie: dice dónde está el mercado.</a:t>
            </a:r>
            <a:endParaRPr lang="en-US" sz="1500" dirty="0"/>
          </a:p>
        </p:txBody>
      </p:sp>
      <p:sp>
        <p:nvSpPr>
          <p:cNvPr id="15" name="Nivel Conversación"/>
          <p:cNvSpPr/>
          <p:nvPr/>
        </p:nvSpPr>
        <p:spPr>
          <a:xfrm>
            <a:off x="8101584" y="1417320"/>
            <a:ext cx="3520440" cy="379476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Nivel Conversación círculo"/>
          <p:cNvSpPr/>
          <p:nvPr/>
        </p:nvSpPr>
        <p:spPr>
          <a:xfrm>
            <a:off x="8375904" y="164592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Nivel Conversación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414" y="1843430"/>
            <a:ext cx="336499" cy="336499"/>
          </a:xfrm>
          <a:prstGeom prst="rect">
            <a:avLst/>
          </a:prstGeom>
        </p:spPr>
      </p:pic>
      <p:sp>
        <p:nvSpPr>
          <p:cNvPr id="18" name="Nivel Conversación título"/>
          <p:cNvSpPr txBox="1"/>
          <p:nvPr/>
        </p:nvSpPr>
        <p:spPr>
          <a:xfrm>
            <a:off x="9244584" y="16459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Conversación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Redes, agregado</a:t>
            </a:r>
            <a:endParaRPr lang="en-US" sz="2000" dirty="0"/>
          </a:p>
        </p:txBody>
      </p:sp>
      <p:sp>
        <p:nvSpPr>
          <p:cNvPr id="19" name="Nivel Conversación fuentes"/>
          <p:cNvSpPr txBox="1"/>
          <p:nvPr/>
        </p:nvSpPr>
        <p:spPr>
          <a:xfrm>
            <a:off x="8375904" y="26060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Herramienta de escucha con licencia o la API oficial de cada red.</a:t>
            </a:r>
            <a:endParaRPr lang="en-US" sz="1500" dirty="0"/>
          </a:p>
        </p:txBody>
      </p:sp>
      <p:sp>
        <p:nvSpPr>
          <p:cNvPr id="20" name="Nivel Conversación uso"/>
          <p:cNvSpPr txBox="1"/>
          <p:nvPr/>
        </p:nvSpPr>
        <p:spPr>
          <a:xfrm>
            <a:off x="8375904" y="406908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Sólo temas y sentimiento por país y semana; sin autores ni textos.</a:t>
            </a:r>
            <a:endParaRPr lang="en-US" sz="1500" dirty="0"/>
          </a:p>
        </p:txBody>
      </p:sp>
      <p:sp>
        <p:nvSpPr>
          <p:cNvPr id="21" name="Cruce círculo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Cruce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17" y="5601157"/>
            <a:ext cx="273406" cy="273406"/>
          </a:xfrm>
          <a:prstGeom prst="rect">
            <a:avLst/>
          </a:prstGeom>
        </p:spPr>
      </p:pic>
      <p:sp>
        <p:nvSpPr>
          <p:cNvPr id="23" name="Cruce territorial"/>
          <p:cNvSpPr txBox="1"/>
          <p:nvPr/>
        </p:nvSpPr>
        <p:spPr>
          <a:xfrm>
            <a:off x="1371600" y="5394960"/>
            <a:ext cx="102714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cruzan por el barrio declarado: a quien vive en Pocitos se le asigna el nivel socioeconómico de Pocitos, no uno calculado para él.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Relacionamiento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886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La pestaña nueva del programa, y su salida a Fabric y Power BI</a:t>
            </a:r>
            <a:endParaRPr lang="en-US" sz="2000" dirty="0"/>
          </a:p>
        </p:txBody>
      </p:sp>
      <p:sp>
        <p:nvSpPr>
          <p:cNvPr id="4" name="Sección círculo"/>
          <p:cNvSpPr/>
          <p:nvPr/>
        </p:nvSpPr>
        <p:spPr>
          <a:xfrm>
            <a:off x="548640" y="1463040"/>
            <a:ext cx="1005840" cy="1005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ección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1734617"/>
            <a:ext cx="462686" cy="4626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hace el programa (pestaña nueva «Relacionamiento»)</a:t>
            </a:r>
            <a:endParaRPr lang="en-US" sz="3200" dirty="0"/>
          </a:p>
        </p:txBody>
      </p:sp>
      <p:sp>
        <p:nvSpPr>
          <p:cNvPr id="3" name="Función 1"/>
          <p:cNvSpPr/>
          <p:nvPr/>
        </p:nvSpPr>
        <p:spPr>
          <a:xfrm>
            <a:off x="548640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unción 1 círculo"/>
          <p:cNvSpPr/>
          <p:nvPr/>
        </p:nvSpPr>
        <p:spPr>
          <a:xfrm>
            <a:off x="77724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unción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48333"/>
            <a:ext cx="252374" cy="252374"/>
          </a:xfrm>
          <a:prstGeom prst="rect">
            <a:avLst/>
          </a:prstGeom>
        </p:spPr>
      </p:pic>
      <p:sp>
        <p:nvSpPr>
          <p:cNvPr id="6" name="Función 1 título"/>
          <p:cNvSpPr txBox="1"/>
          <p:nvPr/>
        </p:nvSpPr>
        <p:spPr>
          <a:xfrm>
            <a:off x="146304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Quién, para qué y con qué</a:t>
            </a:r>
            <a:endParaRPr lang="en-US" sz="1600" dirty="0"/>
          </a:p>
        </p:txBody>
      </p:sp>
      <p:sp>
        <p:nvSpPr>
          <p:cNvPr id="7" name="Función 1 texto"/>
          <p:cNvSpPr txBox="1"/>
          <p:nvPr/>
        </p:nvSpPr>
        <p:spPr>
          <a:xfrm>
            <a:off x="777240" y="22402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Dice quién se puede contactar, para qué y con qué contenido, y cuando algo no se puede enviar, explica por qué.</a:t>
            </a:r>
            <a:endParaRPr lang="en-US" sz="1400" dirty="0"/>
          </a:p>
        </p:txBody>
      </p:sp>
      <p:sp>
        <p:nvSpPr>
          <p:cNvPr id="8" name="Función 2"/>
          <p:cNvSpPr/>
          <p:nvPr/>
        </p:nvSpPr>
        <p:spPr>
          <a:xfrm>
            <a:off x="4325112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unción 2 círculo"/>
          <p:cNvSpPr/>
          <p:nvPr/>
        </p:nvSpPr>
        <p:spPr>
          <a:xfrm>
            <a:off x="4553712" y="16002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Función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845" y="1748333"/>
            <a:ext cx="252374" cy="252374"/>
          </a:xfrm>
          <a:prstGeom prst="rect">
            <a:avLst/>
          </a:prstGeom>
        </p:spPr>
      </p:pic>
      <p:sp>
        <p:nvSpPr>
          <p:cNvPr id="11" name="Función 2 título"/>
          <p:cNvSpPr txBox="1"/>
          <p:nvPr/>
        </p:nvSpPr>
        <p:spPr>
          <a:xfrm>
            <a:off x="5239512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Siguiente mejor contenido</a:t>
            </a:r>
            <a:endParaRPr lang="en-US" sz="1600" dirty="0"/>
          </a:p>
        </p:txBody>
      </p:sp>
      <p:sp>
        <p:nvSpPr>
          <p:cNvPr id="12" name="Función 2 texto"/>
          <p:cNvSpPr txBox="1"/>
          <p:nvPr/>
        </p:nvSpPr>
        <p:spPr>
          <a:xfrm>
            <a:off x="4553712" y="22402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Recomienda a cada persona su siguiente mejor contenido. A un paciente, un producto bajo receta le llega como concientización sin marca o como programa de pacientes, nunca como promoción.</a:t>
            </a:r>
            <a:endParaRPr lang="en-US" sz="1400" dirty="0"/>
          </a:p>
        </p:txBody>
      </p:sp>
      <p:sp>
        <p:nvSpPr>
          <p:cNvPr id="13" name="Función 3"/>
          <p:cNvSpPr/>
          <p:nvPr/>
        </p:nvSpPr>
        <p:spPr>
          <a:xfrm>
            <a:off x="8101584" y="137160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unción 3 círculo"/>
          <p:cNvSpPr/>
          <p:nvPr/>
        </p:nvSpPr>
        <p:spPr>
          <a:xfrm>
            <a:off x="8330184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Función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317" y="1748333"/>
            <a:ext cx="252374" cy="252374"/>
          </a:xfrm>
          <a:prstGeom prst="rect">
            <a:avLst/>
          </a:prstGeom>
        </p:spPr>
      </p:pic>
      <p:sp>
        <p:nvSpPr>
          <p:cNvPr id="16" name="Función 3 título"/>
          <p:cNvSpPr txBox="1"/>
          <p:nvPr/>
        </p:nvSpPr>
        <p:spPr>
          <a:xfrm>
            <a:off x="9015984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Embudo y KPIs</a:t>
            </a:r>
            <a:endParaRPr lang="en-US" sz="1600" dirty="0"/>
          </a:p>
        </p:txBody>
      </p:sp>
      <p:sp>
        <p:nvSpPr>
          <p:cNvPr id="17" name="Función 3 texto"/>
          <p:cNvSpPr txBox="1"/>
          <p:nvPr/>
        </p:nvSpPr>
        <p:spPr>
          <a:xfrm>
            <a:off x="8330184" y="22402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Mide el embudo de la base (de captados a inscriptos) y apertura, clics, conversión, bajas y quejas por contenido.</a:t>
            </a:r>
            <a:endParaRPr lang="en-US" sz="1400" dirty="0"/>
          </a:p>
        </p:txBody>
      </p:sp>
      <p:sp>
        <p:nvSpPr>
          <p:cNvPr id="18" name="Función 4"/>
          <p:cNvSpPr/>
          <p:nvPr/>
        </p:nvSpPr>
        <p:spPr>
          <a:xfrm>
            <a:off x="548640" y="388620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unción 4 círculo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Función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373" y="4262933"/>
            <a:ext cx="252374" cy="252374"/>
          </a:xfrm>
          <a:prstGeom prst="rect">
            <a:avLst/>
          </a:prstGeom>
        </p:spPr>
      </p:pic>
      <p:sp>
        <p:nvSpPr>
          <p:cNvPr id="21" name="Función 4 título"/>
          <p:cNvSpPr txBox="1"/>
          <p:nvPr/>
        </p:nvSpPr>
        <p:spPr>
          <a:xfrm>
            <a:off x="146304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Cumplimiento</a:t>
            </a:r>
            <a:endParaRPr lang="en-US" sz="1600" dirty="0"/>
          </a:p>
        </p:txBody>
      </p:sp>
      <p:sp>
        <p:nvSpPr>
          <p:cNvPr id="22" name="Función 4 texto"/>
          <p:cNvSpPr txBox="1"/>
          <p:nvPr/>
        </p:nvSpPr>
        <p:spPr>
          <a:xfrm>
            <a:off x="777240" y="47548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Avisa qué envíos del historial hoy no cumplirían las reglas, para revisarlos con compliance.</a:t>
            </a:r>
            <a:endParaRPr lang="en-US" sz="1400" dirty="0"/>
          </a:p>
        </p:txBody>
      </p:sp>
      <p:sp>
        <p:nvSpPr>
          <p:cNvPr id="23" name="Función 5"/>
          <p:cNvSpPr/>
          <p:nvPr/>
        </p:nvSpPr>
        <p:spPr>
          <a:xfrm>
            <a:off x="4325112" y="388620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unción 5 círculo"/>
          <p:cNvSpPr/>
          <p:nvPr/>
        </p:nvSpPr>
        <p:spPr>
          <a:xfrm>
            <a:off x="4553712" y="411480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25" name="Función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845" y="4262933"/>
            <a:ext cx="252374" cy="252374"/>
          </a:xfrm>
          <a:prstGeom prst="rect">
            <a:avLst/>
          </a:prstGeom>
        </p:spPr>
      </p:pic>
      <p:sp>
        <p:nvSpPr>
          <p:cNvPr id="26" name="Función 5 título"/>
          <p:cNvSpPr txBox="1"/>
          <p:nvPr/>
        </p:nvSpPr>
        <p:spPr>
          <a:xfrm>
            <a:off x="5239512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Mercado sin alcanzar</a:t>
            </a:r>
            <a:endParaRPr lang="en-US" sz="1600" dirty="0"/>
          </a:p>
        </p:txBody>
      </p:sp>
      <p:sp>
        <p:nvSpPr>
          <p:cNvPr id="27" name="Función 5 texto"/>
          <p:cNvSpPr txBox="1"/>
          <p:nvPr/>
        </p:nvSpPr>
        <p:spPr>
          <a:xfrm>
            <a:off x="4553712" y="47548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Muestra el mercado sin alcanzar: por ciudad, barrio, sexo, edad y nivel socioeconómico, cuánta gente con la enfermedad estimada hay contra cuánta tenemos en la base.</a:t>
            </a:r>
            <a:endParaRPr lang="en-US" sz="1400" dirty="0"/>
          </a:p>
        </p:txBody>
      </p:sp>
      <p:sp>
        <p:nvSpPr>
          <p:cNvPr id="28" name="Función 6"/>
          <p:cNvSpPr/>
          <p:nvPr/>
        </p:nvSpPr>
        <p:spPr>
          <a:xfrm>
            <a:off x="8101584" y="3886200"/>
            <a:ext cx="352044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unción 6 círculo"/>
          <p:cNvSpPr/>
          <p:nvPr/>
        </p:nvSpPr>
        <p:spPr>
          <a:xfrm>
            <a:off x="8330184" y="41148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Función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8317" y="4262933"/>
            <a:ext cx="252374" cy="252374"/>
          </a:xfrm>
          <a:prstGeom prst="rect">
            <a:avLst/>
          </a:prstGeom>
        </p:spPr>
      </p:pic>
      <p:sp>
        <p:nvSpPr>
          <p:cNvPr id="31" name="Función 6 título"/>
          <p:cNvSpPr txBox="1"/>
          <p:nvPr/>
        </p:nvSpPr>
        <p:spPr>
          <a:xfrm>
            <a:off x="9015984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Escucha de redes</a:t>
            </a:r>
            <a:endParaRPr lang="en-US" sz="1600" dirty="0"/>
          </a:p>
        </p:txBody>
      </p:sp>
      <p:sp>
        <p:nvSpPr>
          <p:cNvPr id="32" name="Función 6 texto"/>
          <p:cNvSpPr txBox="1"/>
          <p:nvPr/>
        </p:nvSpPr>
        <p:spPr>
          <a:xfrm>
            <a:off x="8330184" y="4754880"/>
            <a:ext cx="3108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Resume la escucha de redes por tema y sentimiento, sin autores ni textos. Las menciones de nuestros productos con posibles efectos adversos se cuentan aparte para farmacovigilancia.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Fabric y Power BI</a:t>
            </a:r>
            <a:endParaRPr lang="en-US" sz="3200" dirty="0"/>
          </a:p>
        </p:txBody>
      </p:sp>
      <p:sp>
        <p:nvSpPr>
          <p:cNvPr id="3" name="Fabric 1 círculo"/>
          <p:cNvSpPr/>
          <p:nvPr/>
        </p:nvSpPr>
        <p:spPr>
          <a:xfrm>
            <a:off x="548640" y="14630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Fabric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806" y="1648206"/>
            <a:ext cx="315468" cy="315468"/>
          </a:xfrm>
          <a:prstGeom prst="rect">
            <a:avLst/>
          </a:prstGeom>
        </p:spPr>
      </p:pic>
      <p:sp>
        <p:nvSpPr>
          <p:cNvPr id="5" name="Fabric 1 texto"/>
          <p:cNvSpPr txBox="1"/>
          <p:nvPr/>
        </p:nvSpPr>
        <p:spPr>
          <a:xfrm>
            <a:off x="1463040" y="14173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botón «Power BI y Fabric» descarga las tablas y medidas del tablero, más un modelo estrella para el Lakehouse con su script de creación y la celda que lo carga.</a:t>
            </a:r>
            <a:endParaRPr lang="en-US" sz="1600" dirty="0"/>
          </a:p>
        </p:txBody>
      </p:sp>
      <p:sp>
        <p:nvSpPr>
          <p:cNvPr id="6" name="Fabric 2 círculo"/>
          <p:cNvSpPr/>
          <p:nvPr/>
        </p:nvSpPr>
        <p:spPr>
          <a:xfrm>
            <a:off x="548640" y="30632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Fabric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806" y="3248406"/>
            <a:ext cx="315468" cy="315468"/>
          </a:xfrm>
          <a:prstGeom prst="rect">
            <a:avLst/>
          </a:prstGeom>
        </p:spPr>
      </p:pic>
      <p:sp>
        <p:nvSpPr>
          <p:cNvPr id="8" name="Fabric 2 texto"/>
          <p:cNvSpPr txBox="1"/>
          <p:nvPr/>
        </p:nvSpPr>
        <p:spPr>
          <a:xfrm>
            <a:off x="1463040" y="30175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Las dimensiones de país, producto y área se relacionan con las que ya tienen en Analysis Services o el data warehouse, así las ventas actuales se cruzan con la base y el mercado.</a:t>
            </a:r>
            <a:endParaRPr lang="en-US" sz="1600" dirty="0"/>
          </a:p>
        </p:txBody>
      </p:sp>
      <p:sp>
        <p:nvSpPr>
          <p:cNvPr id="9" name="Fabric 3 círculo"/>
          <p:cNvSpPr/>
          <p:nvPr/>
        </p:nvSpPr>
        <p:spPr>
          <a:xfrm>
            <a:off x="548640" y="466344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Fabric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806" y="4848606"/>
            <a:ext cx="315468" cy="315468"/>
          </a:xfrm>
          <a:prstGeom prst="rect">
            <a:avLst/>
          </a:prstGeom>
        </p:spPr>
      </p:pic>
      <p:sp>
        <p:nvSpPr>
          <p:cNvPr id="11" name="Fabric 3 texto"/>
          <p:cNvSpPr txBox="1"/>
          <p:nvPr/>
        </p:nvSpPr>
        <p:spPr>
          <a:xfrm>
            <a:off x="1463040" y="4617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modelo no lleva mail, teléfono ni nombre: eso queda en el CRM.</a:t>
            </a:r>
            <a:endParaRPr lang="en-US" sz="1600" dirty="0"/>
          </a:p>
        </p:txBody>
      </p:sp>
      <p:sp>
        <p:nvSpPr>
          <p:cNvPr id="12" name="Flujo CRM"/>
          <p:cNvSpPr/>
          <p:nvPr/>
        </p:nvSpPr>
        <p:spPr>
          <a:xfrm>
            <a:off x="7498080" y="1417320"/>
            <a:ext cx="4114800" cy="868680"/>
          </a:xfrm>
          <a:prstGeom prst="roundRect">
            <a:avLst>
              <a:gd name="adj" fmla="val 842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Flujo CRM texto"/>
          <p:cNvSpPr txBox="1"/>
          <p:nvPr/>
        </p:nvSpPr>
        <p:spPr>
          <a:xfrm>
            <a:off x="7680960" y="14630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CRM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mail, teléfono y nombre se quedan acá</a:t>
            </a:r>
            <a:endParaRPr lang="en-US" sz="1600" dirty="0"/>
          </a:p>
        </p:txBody>
      </p:sp>
      <p:pic>
        <p:nvPicPr>
          <p:cNvPr id="14" name="Flecha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313432"/>
            <a:ext cx="274320" cy="274320"/>
          </a:xfrm>
          <a:prstGeom prst="rect">
            <a:avLst/>
          </a:prstGeom>
        </p:spPr>
      </p:pic>
      <p:sp>
        <p:nvSpPr>
          <p:cNvPr id="15" name="Flujo MV AutoML Studio"/>
          <p:cNvSpPr/>
          <p:nvPr/>
        </p:nvSpPr>
        <p:spPr>
          <a:xfrm>
            <a:off x="7498080" y="2606040"/>
            <a:ext cx="411480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Flujo MV AutoML Studio texto"/>
          <p:cNvSpPr txBox="1"/>
          <p:nvPr/>
        </p:nvSpPr>
        <p:spPr>
          <a:xfrm>
            <a:off x="7680960" y="2651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MV AutoML Studio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reglas, recomendaciones y KPIs con id seudónimo</a:t>
            </a:r>
            <a:endParaRPr lang="en-US" sz="1600" dirty="0"/>
          </a:p>
        </p:txBody>
      </p:sp>
      <p:pic>
        <p:nvPicPr>
          <p:cNvPr id="17" name="Flecha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3502152"/>
            <a:ext cx="274320" cy="274320"/>
          </a:xfrm>
          <a:prstGeom prst="rect">
            <a:avLst/>
          </a:prstGeom>
        </p:spPr>
      </p:pic>
      <p:sp>
        <p:nvSpPr>
          <p:cNvPr id="18" name="Flujo Lakehouse de Fabric"/>
          <p:cNvSpPr/>
          <p:nvPr/>
        </p:nvSpPr>
        <p:spPr>
          <a:xfrm>
            <a:off x="7498080" y="3794760"/>
            <a:ext cx="41148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Flujo Lakehouse de Fabric texto"/>
          <p:cNvSpPr txBox="1"/>
          <p:nvPr/>
        </p:nvSpPr>
        <p:spPr>
          <a:xfrm>
            <a:off x="7680960" y="384048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Lakehouse de Fabric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modelo estrella + Analysis Services / DW</a:t>
            </a:r>
            <a:endParaRPr lang="en-US" sz="1600" dirty="0"/>
          </a:p>
        </p:txBody>
      </p:sp>
      <p:pic>
        <p:nvPicPr>
          <p:cNvPr id="20" name="Flecha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0" y="4690872"/>
            <a:ext cx="274320" cy="274320"/>
          </a:xfrm>
          <a:prstGeom prst="rect">
            <a:avLst/>
          </a:prstGeom>
        </p:spPr>
      </p:pic>
      <p:sp>
        <p:nvSpPr>
          <p:cNvPr id="21" name="Flujo Power BI"/>
          <p:cNvSpPr/>
          <p:nvPr/>
        </p:nvSpPr>
        <p:spPr>
          <a:xfrm>
            <a:off x="7498080" y="4983480"/>
            <a:ext cx="411480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Flujo Power BI texto"/>
          <p:cNvSpPr txBox="1"/>
          <p:nvPr/>
        </p:nvSpPr>
        <p:spPr>
          <a:xfrm>
            <a:off x="7680960" y="5029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Power BI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tablas y medidas del tablero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embudo de la base, de captados a inscriptos</a:t>
            </a:r>
            <a:endParaRPr lang="en-US" sz="3200" dirty="0"/>
          </a:p>
        </p:txBody>
      </p:sp>
      <p:graphicFrame>
        <p:nvGraphicFramePr>
          <p:cNvPr id="3" name="Gráfico embudo" descr=""/>
          <p:cNvGraphicFramePr/>
          <p:nvPr/>
        </p:nvGraphicFramePr>
        <p:xfrm>
          <a:off x="548640" y="1325880"/>
          <a:ext cx="69494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Qué se mide"/>
          <p:cNvSpPr/>
          <p:nvPr/>
        </p:nvSpPr>
        <p:spPr>
          <a:xfrm>
            <a:off x="7818120" y="1417320"/>
            <a:ext cx="3822192" cy="4709160"/>
          </a:xfrm>
          <a:prstGeom prst="roundRect">
            <a:avLst>
              <a:gd name="adj" fmla="val 19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Qué se mide título"/>
          <p:cNvSpPr txBox="1"/>
          <p:nvPr/>
        </p:nvSpPr>
        <p:spPr>
          <a:xfrm>
            <a:off x="80924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Qué se mide por contenido</a:t>
            </a:r>
            <a:endParaRPr lang="en-US" sz="1800" dirty="0"/>
          </a:p>
        </p:txBody>
      </p:sp>
      <p:sp>
        <p:nvSpPr>
          <p:cNvPr id="6" name="Qué se mide lista"/>
          <p:cNvSpPr txBox="1"/>
          <p:nvPr/>
        </p:nvSpPr>
        <p:spPr>
          <a:xfrm>
            <a:off x="8092440" y="214884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Apertura y clics por envío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Conversión: inscripciones y canjes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Bajas y quejas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Penetración por zona contra el censo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Envíos a revisar: tiene que ser cero</a:t>
            </a:r>
            <a:endParaRPr lang="en-US" sz="1500" dirty="0"/>
          </a:p>
        </p:txBody>
      </p:sp>
      <p:sp>
        <p:nvSpPr>
          <p:cNvPr id="7" name="Lectura del embudo"/>
          <p:cNvSpPr txBox="1"/>
          <p:nvPr/>
        </p:nvSpPr>
        <p:spPr>
          <a:xfrm>
            <a:off x="8092440" y="461772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Lectura del ejemplo: la base alcanza a 1.187 personas, pero sólo 22 se inscribieron o canjearon. El cuello está en la conversión, no en el alcance.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Dónde está el mercado que todavía no alcanzamos</a:t>
            </a:r>
            <a:endParaRPr lang="en-US" sz="3200" dirty="0"/>
          </a:p>
        </p:txBody>
      </p:sp>
      <p:pic>
        <p:nvPicPr>
          <p:cNvPr id="3" name="Captura cobertura" descr="Tabla de la pestaña: casos estimados, personas en la base, captados del área, penetración y brecha por ciud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3429918"/>
          </a:xfrm>
          <a:prstGeom prst="rect">
            <a:avLst/>
          </a:prstGeom>
        </p:spPr>
      </p:pic>
      <p:sp>
        <p:nvSpPr>
          <p:cNvPr id="4" name="Pie de captura"/>
          <p:cNvSpPr txBox="1"/>
          <p:nvPr/>
        </p:nvSpPr>
        <p:spPr>
          <a:xfrm>
            <a:off x="548640" y="498439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Captura de la pestaña con datos sintéticos</a:t>
            </a:r>
            <a:endParaRPr lang="en-US" sz="1100" dirty="0"/>
          </a:p>
        </p:txBody>
      </p:sp>
      <p:sp>
        <p:nvSpPr>
          <p:cNvPr id="5" name="Lectura Casos estimados"/>
          <p:cNvSpPr txBox="1"/>
          <p:nvPr/>
        </p:nvSpPr>
        <p:spPr>
          <a:xfrm>
            <a:off x="8229600" y="1463040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Casos estimados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censo × prevalencia de las encuestas de salud, por zona y segmento</a:t>
            </a:r>
            <a:endParaRPr lang="en-US" sz="1500" dirty="0"/>
          </a:p>
        </p:txBody>
      </p:sp>
      <p:sp>
        <p:nvSpPr>
          <p:cNvPr id="6" name="Lectura Captados del área"/>
          <p:cNvSpPr txBox="1"/>
          <p:nvPr/>
        </p:nvSpPr>
        <p:spPr>
          <a:xfrm>
            <a:off x="8229600" y="2697480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Captados del área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pacientes con el área declarada y permiso de salud</a:t>
            </a:r>
            <a:endParaRPr lang="en-US" sz="1500" dirty="0"/>
          </a:p>
        </p:txBody>
      </p:sp>
      <p:sp>
        <p:nvSpPr>
          <p:cNvPr id="7" name="Lectura Brecha"/>
          <p:cNvSpPr txBox="1"/>
          <p:nvPr/>
        </p:nvSpPr>
        <p:spPr>
          <a:xfrm>
            <a:off x="8229600" y="3931920"/>
            <a:ext cx="34107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Brecha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dónde conviene concientización sin marca y captación con consentimiento</a:t>
            </a:r>
            <a:endParaRPr lang="en-US" sz="1500" dirty="0"/>
          </a:p>
        </p:txBody>
      </p:sp>
      <p:sp>
        <p:nvSpPr>
          <p:cNvPr id="8" name="Privacidad"/>
          <p:cNvSpPr txBox="1"/>
          <p:nvPr/>
        </p:nvSpPr>
        <p:spPr>
          <a:xfrm>
            <a:off x="8229600" y="525780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Los conteos de 1 a 9 no se publican: nadie se puede reidentificar.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Qué decir, a quién y por dónde</a:t>
            </a:r>
            <a:endParaRPr lang="en-US" sz="3200" dirty="0"/>
          </a:p>
        </p:txBody>
      </p:sp>
      <p:graphicFrame>
        <p:nvGraphicFramePr>
          <p:cNvPr id="11" name="Tabla de cana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103120"/>
                <a:gridCol w="3291840"/>
                <a:gridCol w="3044952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quién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puede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 puede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Concientización sin marca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Educar sobre la enfermedad e invitar a consultar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Nombrar el producto bajo receta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de pacientes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declaró la receta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Adherencia, recordatorios, beneficios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Promocionar otros productos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Venta libre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y recomendación tipo marketplace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Prometer efectos no aprobados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Profesionales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Médicos registrados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Productos bajo receta y educación médica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Regalos fuera del código de ética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Escucha social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Nadie en particular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Detectar temas y sentimiento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Contactar a quien publicó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Pauta en redes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Audiencias amplias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Concientización por contexto y región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accent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Audiencias con datos de salud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Cada riesgo tiene un control dentro del programa</a:t>
            </a:r>
            <a:endParaRPr lang="en-US" sz="3200" dirty="0"/>
          </a:p>
        </p:txBody>
      </p:sp>
      <p:sp>
        <p:nvSpPr>
          <p:cNvPr id="3" name="Riesgo 1"/>
          <p:cNvSpPr/>
          <p:nvPr/>
        </p:nvSpPr>
        <p:spPr>
          <a:xfrm>
            <a:off x="54864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iesgo 1 círculo"/>
          <p:cNvSpPr/>
          <p:nvPr/>
        </p:nvSpPr>
        <p:spPr>
          <a:xfrm>
            <a:off x="777240" y="171907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iesgo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406" y="1904238"/>
            <a:ext cx="315468" cy="315468"/>
          </a:xfrm>
          <a:prstGeom prst="rect">
            <a:avLst/>
          </a:prstGeom>
        </p:spPr>
      </p:pic>
      <p:sp>
        <p:nvSpPr>
          <p:cNvPr id="6" name="Riesgo 1 texto"/>
          <p:cNvSpPr txBox="1"/>
          <p:nvPr/>
        </p:nvSpPr>
        <p:spPr>
          <a:xfrm>
            <a:off x="1691640" y="15087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Receta al público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Regla antes del puntaje; condición de venta vacía o dudosa = receta</a:t>
            </a:r>
            <a:endParaRPr lang="en-US" sz="1700" dirty="0"/>
          </a:p>
        </p:txBody>
      </p:sp>
      <p:sp>
        <p:nvSpPr>
          <p:cNvPr id="7" name="Riesgo 2"/>
          <p:cNvSpPr/>
          <p:nvPr/>
        </p:nvSpPr>
        <p:spPr>
          <a:xfrm>
            <a:off x="6217920" y="13716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iesgo 2 círculo"/>
          <p:cNvSpPr/>
          <p:nvPr/>
        </p:nvSpPr>
        <p:spPr>
          <a:xfrm>
            <a:off x="6446520" y="171907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Riesgo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686" y="1904238"/>
            <a:ext cx="315468" cy="315468"/>
          </a:xfrm>
          <a:prstGeom prst="rect">
            <a:avLst/>
          </a:prstGeom>
        </p:spPr>
      </p:pic>
      <p:sp>
        <p:nvSpPr>
          <p:cNvPr id="10" name="Riesgo 2 texto"/>
          <p:cNvSpPr txBox="1"/>
          <p:nvPr/>
        </p:nvSpPr>
        <p:spPr>
          <a:xfrm>
            <a:off x="7360920" y="15087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Dato de salud sin permiso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 descarta al cargar y el programa avisa</a:t>
            </a:r>
            <a:endParaRPr lang="en-US" sz="1700" dirty="0"/>
          </a:p>
        </p:txBody>
      </p:sp>
      <p:sp>
        <p:nvSpPr>
          <p:cNvPr id="11" name="Riesgo 3"/>
          <p:cNvSpPr/>
          <p:nvPr/>
        </p:nvSpPr>
        <p:spPr>
          <a:xfrm>
            <a:off x="54864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iesgo 3 círculo"/>
          <p:cNvSpPr/>
          <p:nvPr/>
        </p:nvSpPr>
        <p:spPr>
          <a:xfrm>
            <a:off x="777240" y="331927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Riesgo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" y="3504438"/>
            <a:ext cx="315468" cy="315468"/>
          </a:xfrm>
          <a:prstGeom prst="rect">
            <a:avLst/>
          </a:prstGeom>
        </p:spPr>
      </p:pic>
      <p:sp>
        <p:nvSpPr>
          <p:cNvPr id="14" name="Riesgo 3 texto"/>
          <p:cNvSpPr txBox="1"/>
          <p:nvPr/>
        </p:nvSpPr>
        <p:spPr>
          <a:xfrm>
            <a:off x="1691640" y="31089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Reidentificar a alguien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Conteos chicos suprimidos, también por diferencia</a:t>
            </a:r>
            <a:endParaRPr lang="en-US" sz="1700" dirty="0"/>
          </a:p>
        </p:txBody>
      </p:sp>
      <p:sp>
        <p:nvSpPr>
          <p:cNvPr id="15" name="Riesgo 4"/>
          <p:cNvSpPr/>
          <p:nvPr/>
        </p:nvSpPr>
        <p:spPr>
          <a:xfrm>
            <a:off x="6217920" y="29718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Riesgo 4 círculo"/>
          <p:cNvSpPr/>
          <p:nvPr/>
        </p:nvSpPr>
        <p:spPr>
          <a:xfrm>
            <a:off x="6446520" y="331927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Riesgo 4 í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686" y="3504438"/>
            <a:ext cx="315468" cy="315468"/>
          </a:xfrm>
          <a:prstGeom prst="rect">
            <a:avLst/>
          </a:prstGeom>
        </p:spPr>
      </p:pic>
      <p:sp>
        <p:nvSpPr>
          <p:cNvPr id="18" name="Riesgo 4 texto"/>
          <p:cNvSpPr txBox="1"/>
          <p:nvPr/>
        </p:nvSpPr>
        <p:spPr>
          <a:xfrm>
            <a:off x="7360920" y="31089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Cansar a la gente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Tope de envíos por país y baja en un clic</a:t>
            </a:r>
            <a:endParaRPr lang="en-US" sz="1700" dirty="0"/>
          </a:p>
        </p:txBody>
      </p:sp>
      <p:sp>
        <p:nvSpPr>
          <p:cNvPr id="19" name="Riesgo 5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Riesgo 5 círculo"/>
          <p:cNvSpPr/>
          <p:nvPr/>
        </p:nvSpPr>
        <p:spPr>
          <a:xfrm>
            <a:off x="777240" y="491947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Riesgo 5 ícono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" y="5104638"/>
            <a:ext cx="315468" cy="315468"/>
          </a:xfrm>
          <a:prstGeom prst="rect">
            <a:avLst/>
          </a:prstGeom>
        </p:spPr>
      </p:pic>
      <p:sp>
        <p:nvSpPr>
          <p:cNvPr id="22" name="Riesgo 5 texto"/>
          <p:cNvSpPr txBox="1"/>
          <p:nvPr/>
        </p:nvSpPr>
        <p:spPr>
          <a:xfrm>
            <a:off x="1691640" y="47091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Evento adverso en redes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Conteo por producto para farmacovigilancia</a:t>
            </a:r>
            <a:endParaRPr lang="en-US" sz="1700" dirty="0"/>
          </a:p>
        </p:txBody>
      </p:sp>
      <p:sp>
        <p:nvSpPr>
          <p:cNvPr id="23" name="Riesgo 6"/>
          <p:cNvSpPr/>
          <p:nvPr/>
        </p:nvSpPr>
        <p:spPr>
          <a:xfrm>
            <a:off x="621792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Riesgo 6 círculo"/>
          <p:cNvSpPr/>
          <p:nvPr/>
        </p:nvSpPr>
        <p:spPr>
          <a:xfrm>
            <a:off x="6446520" y="4919472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Riesgo 6 ícono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686" y="5104638"/>
            <a:ext cx="315468" cy="315468"/>
          </a:xfrm>
          <a:prstGeom prst="rect">
            <a:avLst/>
          </a:prstGeom>
        </p:spPr>
      </p:pic>
      <p:sp>
        <p:nvSpPr>
          <p:cNvPr id="26" name="Riesgo 6 texto"/>
          <p:cNvSpPr txBox="1"/>
          <p:nvPr/>
        </p:nvSpPr>
        <p:spPr>
          <a:xfrm>
            <a:off x="7360920" y="470916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Derechos de la persona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Acceso a sus datos y supresión con huella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Próximos pasos</a:t>
            </a:r>
            <a:endParaRPr lang="en-US" sz="3200" dirty="0"/>
          </a:p>
        </p:txBody>
      </p:sp>
      <p:sp>
        <p:nvSpPr>
          <p:cNvPr id="3" name="Línea de tiempo"/>
          <p:cNvSpPr/>
          <p:nvPr/>
        </p:nvSpPr>
        <p:spPr>
          <a:xfrm>
            <a:off x="1554480" y="2194560"/>
            <a:ext cx="9082735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Paso 1 círculo"/>
          <p:cNvSpPr/>
          <p:nvPr/>
        </p:nvSpPr>
        <p:spPr>
          <a:xfrm>
            <a:off x="1234440" y="1691640"/>
            <a:ext cx="1005840" cy="10058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Paso 1 número"/>
          <p:cNvSpPr txBox="1"/>
          <p:nvPr/>
        </p:nvSpPr>
        <p:spPr>
          <a:xfrm>
            <a:off x="123444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Paso 1 texto"/>
          <p:cNvSpPr txBox="1"/>
          <p:nvPr/>
        </p:nvSpPr>
        <p:spPr>
          <a:xfrm>
            <a:off x="731520" y="29260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Validar las reglas con legal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País por país, empezando por el piloto</a:t>
            </a:r>
            <a:endParaRPr lang="en-US" sz="1600" dirty="0"/>
          </a:p>
        </p:txBody>
      </p:sp>
      <p:sp>
        <p:nvSpPr>
          <p:cNvPr id="7" name="Paso 2 círculo"/>
          <p:cNvSpPr/>
          <p:nvPr/>
        </p:nvSpPr>
        <p:spPr>
          <a:xfrm>
            <a:off x="3474720" y="1691640"/>
            <a:ext cx="1005840" cy="10058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8" name="Paso 2 número"/>
          <p:cNvSpPr txBox="1"/>
          <p:nvPr/>
        </p:nvSpPr>
        <p:spPr>
          <a:xfrm>
            <a:off x="347472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Paso 2 texto"/>
          <p:cNvSpPr txBox="1"/>
          <p:nvPr/>
        </p:nvSpPr>
        <p:spPr>
          <a:xfrm>
            <a:off x="2971800" y="29260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Diseñar la captación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Formularios con las cuatro casillas y doble confirmación</a:t>
            </a:r>
            <a:endParaRPr lang="en-US" sz="1600" dirty="0"/>
          </a:p>
        </p:txBody>
      </p:sp>
      <p:sp>
        <p:nvSpPr>
          <p:cNvPr id="10" name="Paso 3 círculo"/>
          <p:cNvSpPr/>
          <p:nvPr/>
        </p:nvSpPr>
        <p:spPr>
          <a:xfrm>
            <a:off x="5715000" y="1691640"/>
            <a:ext cx="1005840" cy="10058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1" name="Paso 3 número"/>
          <p:cNvSpPr txBox="1"/>
          <p:nvPr/>
        </p:nvSpPr>
        <p:spPr>
          <a:xfrm>
            <a:off x="571500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2" name="Paso 3 texto"/>
          <p:cNvSpPr txBox="1"/>
          <p:nvPr/>
        </p:nvSpPr>
        <p:spPr>
          <a:xfrm>
            <a:off x="5212080" y="29260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Armar el catálogo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Contenidos tipificados con condición de venta y audiencia</a:t>
            </a:r>
            <a:endParaRPr lang="en-US" sz="1600" dirty="0"/>
          </a:p>
        </p:txBody>
      </p:sp>
      <p:sp>
        <p:nvSpPr>
          <p:cNvPr id="13" name="Paso 4 círculo"/>
          <p:cNvSpPr/>
          <p:nvPr/>
        </p:nvSpPr>
        <p:spPr>
          <a:xfrm>
            <a:off x="7955280" y="1691640"/>
            <a:ext cx="1005840" cy="10058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Paso 4 número"/>
          <p:cNvSpPr txBox="1"/>
          <p:nvPr/>
        </p:nvSpPr>
        <p:spPr>
          <a:xfrm>
            <a:off x="795528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Paso 4 texto"/>
          <p:cNvSpPr txBox="1"/>
          <p:nvPr/>
        </p:nvSpPr>
        <p:spPr>
          <a:xfrm>
            <a:off x="7452360" y="29260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Cargar las fuentes públicas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Censo y encuesta de salud; escucha con farmacovigilancia</a:t>
            </a:r>
            <a:endParaRPr lang="en-US" sz="1600" dirty="0"/>
          </a:p>
        </p:txBody>
      </p:sp>
      <p:sp>
        <p:nvSpPr>
          <p:cNvPr id="16" name="Paso 5 círculo"/>
          <p:cNvSpPr/>
          <p:nvPr/>
        </p:nvSpPr>
        <p:spPr>
          <a:xfrm>
            <a:off x="10195560" y="1691640"/>
            <a:ext cx="1005840" cy="10058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Paso 5 número"/>
          <p:cNvSpPr txBox="1"/>
          <p:nvPr/>
        </p:nvSpPr>
        <p:spPr>
          <a:xfrm>
            <a:off x="10195560" y="16916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8" name="Paso 5 texto"/>
          <p:cNvSpPr txBox="1"/>
          <p:nvPr/>
        </p:nvSpPr>
        <p:spPr>
          <a:xfrm>
            <a:off x="9692640" y="292608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Conectar Fabric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Modelo estrella junto al modelo corporativo</a:t>
            </a:r>
            <a:endParaRPr lang="en-US" sz="1600" dirty="0"/>
          </a:p>
        </p:txBody>
      </p:sp>
      <p:sp>
        <p:nvSpPr>
          <p:cNvPr id="19" name="Arranque sugerido"/>
          <p:cNvSpPr txBox="1"/>
          <p:nvPr/>
        </p:nvSpPr>
        <p:spPr>
          <a:xfrm>
            <a:off x="548640" y="53949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Arranque sugerido: un país y un área terapéutica, con la plantilla del programa y los ejemplos como guía.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Lo que pedimos hoy</a:t>
            </a:r>
            <a:endParaRPr lang="en-US" sz="3600" dirty="0"/>
          </a:p>
        </p:txBody>
      </p:sp>
      <p:sp>
        <p:nvSpPr>
          <p:cNvPr id="3" name="Pedido 1 círculo"/>
          <p:cNvSpPr/>
          <p:nvPr/>
        </p:nvSpPr>
        <p:spPr>
          <a:xfrm>
            <a:off x="548640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Pedido 1 í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84248"/>
            <a:ext cx="420624" cy="420624"/>
          </a:xfrm>
          <a:prstGeom prst="rect">
            <a:avLst/>
          </a:prstGeom>
        </p:spPr>
      </p:pic>
      <p:sp>
        <p:nvSpPr>
          <p:cNvPr id="5" name="Pedido 1 texto"/>
          <p:cNvSpPr txBox="1"/>
          <p:nvPr/>
        </p:nvSpPr>
        <p:spPr>
          <a:xfrm>
            <a:off x="548640" y="28346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 referente de legal y compliance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para validar las reglas país por país</a:t>
            </a:r>
            <a:endParaRPr lang="en-US" sz="2000" dirty="0"/>
          </a:p>
        </p:txBody>
      </p:sp>
      <p:sp>
        <p:nvSpPr>
          <p:cNvPr id="6" name="Pedido 2 círculo"/>
          <p:cNvSpPr/>
          <p:nvPr/>
        </p:nvSpPr>
        <p:spPr>
          <a:xfrm>
            <a:off x="4325112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edido 2 í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84248"/>
            <a:ext cx="420624" cy="420624"/>
          </a:xfrm>
          <a:prstGeom prst="rect">
            <a:avLst/>
          </a:prstGeom>
        </p:spPr>
      </p:pic>
      <p:sp>
        <p:nvSpPr>
          <p:cNvPr id="8" name="Pedido 2 texto"/>
          <p:cNvSpPr txBox="1"/>
          <p:nvPr/>
        </p:nvSpPr>
        <p:spPr>
          <a:xfrm>
            <a:off x="4325112" y="28346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 país y un área piloto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para la primera base y el primer tablero</a:t>
            </a:r>
            <a:endParaRPr lang="en-US" sz="2000" dirty="0"/>
          </a:p>
        </p:txBody>
      </p:sp>
      <p:sp>
        <p:nvSpPr>
          <p:cNvPr id="9" name="Pedido 3 círculo"/>
          <p:cNvSpPr/>
          <p:nvPr/>
        </p:nvSpPr>
        <p:spPr>
          <a:xfrm>
            <a:off x="8101584" y="173736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Pedido 3 í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984248"/>
            <a:ext cx="420624" cy="420624"/>
          </a:xfrm>
          <a:prstGeom prst="rect">
            <a:avLst/>
          </a:prstGeom>
        </p:spPr>
      </p:pic>
      <p:sp>
        <p:nvSpPr>
          <p:cNvPr id="11" name="Pedido 3 texto"/>
          <p:cNvSpPr txBox="1"/>
          <p:nvPr/>
        </p:nvSpPr>
        <p:spPr>
          <a:xfrm>
            <a:off x="8101584" y="283464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Aprobar la captación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landings y formularios con las cuatro casillas</a:t>
            </a:r>
            <a:endParaRPr lang="en-US" sz="2000" dirty="0"/>
          </a:p>
        </p:txBody>
      </p:sp>
      <p:sp>
        <p:nvSpPr>
          <p:cNvPr id="12" name="Frase de cierre"/>
          <p:cNvSpPr txBox="1"/>
          <p:nvPr/>
        </p:nvSpPr>
        <p:spPr>
          <a:xfrm>
            <a:off x="548640" y="4937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Recomendamos como un marketplace, con una base que la gente eligió y reglas que van antes que el algoritmo.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V Relacionamiento">
  <a:themeElements>
    <a:clrScheme name="MV Relacionamiento">
      <a:dk1>
        <a:srgbClr val="1F2933"/>
      </a:dk1>
      <a:lt1>
        <a:srgbClr val="FFFFFF"/>
      </a:lt1>
      <a:dk2>
        <a:srgbClr val="0F3B44"/>
      </a:dk2>
      <a:lt2>
        <a:srgbClr val="EAF2F1"/>
      </a:lt2>
      <a:accent1>
        <a:srgbClr val="1C7C7D"/>
      </a:accent1>
      <a:accent2>
        <a:srgbClr val="E9A23B"/>
      </a:accent2>
      <a:accent3>
        <a:srgbClr val="C8473F"/>
      </a:accent3>
      <a:accent4>
        <a:srgbClr val="4E8B57"/>
      </a:accent4>
      <a:accent5>
        <a:srgbClr val="6B7C88"/>
      </a:accent5>
      <a:accent6>
        <a:srgbClr val="9FD3CF"/>
      </a:accent6>
      <a:hlink>
        <a:srgbClr val="1C7C7D"/>
      </a:hlink>
      <a:folHlink>
        <a:srgbClr val="0F3B44"/>
      </a:folHlink>
    </a:clrScheme>
    <a:fontScheme name="MV Relacionamient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MV AutoML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Relacionamiento con consentimiento</dc:title>
  <dc:subject>Presentación gerencial</dc:subject>
  <dc:creator>Martín Viera</dc:creator>
  <cp:lastModifiedBy>Martín Viera</cp:lastModifiedBy>
  <cp:revision>1</cp:revision>
  <dcterms:created xsi:type="dcterms:W3CDTF">2026-10-09T16:27:10Z</dcterms:created>
  <dcterms:modified xsi:type="dcterms:W3CDTF">2026-10-09T16:27:10Z</dcterms:modified>
</cp:coreProperties>
</file>